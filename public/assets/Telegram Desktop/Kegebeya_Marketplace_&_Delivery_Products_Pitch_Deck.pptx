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5" r:id="rId1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200275"/>
            <a:ext cx="3775556" cy="5715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05" dirty="0">
                <a:solidFill>
                  <a:srgbClr val="0A1F44"/>
                </a:solidFill>
              </a:rPr>
              <a:t>Premium Platform for Marketplace &amp; Logistics</a:t>
            </a:r>
            <a:endParaRPr lang="en-US" sz="1705" dirty="0"/>
          </a:p>
        </p:txBody>
      </p:sp>
      <p:sp>
        <p:nvSpPr>
          <p:cNvPr id="4" name="Shape 1"/>
          <p:cNvSpPr/>
          <p:nvPr/>
        </p:nvSpPr>
        <p:spPr>
          <a:xfrm>
            <a:off x="4918556" y="0"/>
            <a:ext cx="4225444" cy="5143500"/>
          </a:xfrm>
          <a:prstGeom prst="rect">
            <a:avLst/>
          </a:prstGeom>
          <a:solidFill>
            <a:srgbClr val="800000"/>
          </a:solidFill>
        </p:spPr>
      </p:sp>
      <p:sp>
        <p:nvSpPr>
          <p:cNvPr id="5" name="Text 2"/>
          <p:cNvSpPr/>
          <p:nvPr/>
        </p:nvSpPr>
        <p:spPr>
          <a:xfrm>
            <a:off x="5490056" y="1243040"/>
            <a:ext cx="3082444" cy="25145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5" b="1" dirty="0">
                <a:solidFill>
                  <a:srgbClr val="F9F8F7"/>
                </a:solidFill>
              </a:rPr>
              <a:t>Kegebeya: The Future of B2B Procurement and Delivery</a:t>
            </a:r>
            <a:endParaRPr lang="en-US" sz="329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011566"/>
            <a:ext cx="4778471" cy="54861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800000"/>
                </a:solidFill>
              </a:rPr>
              <a:t>Unifying Commerce: Marketplace and Delivery Synergy</a:t>
            </a:r>
            <a:endParaRPr lang="en-US" sz="16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845934"/>
            <a:ext cx="171450" cy="1857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85825" y="1845934"/>
            <a:ext cx="4464146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5" b="1" dirty="0">
                <a:solidFill>
                  <a:srgbClr val="0A1F44"/>
                </a:solidFill>
              </a:rPr>
              <a:t>Integrated Solution:</a:t>
            </a:r>
            <a:r>
              <a:rPr lang="en-US" sz="1050" dirty="0">
                <a:solidFill>
                  <a:srgbClr val="0A1F44"/>
                </a:solidFill>
              </a:rPr>
              <a:t> A single platform for both sourcing goods </a:t>
            </a:r>
            <a:r>
              <a:rPr lang="en-US" sz="1050" dirty="0">
                <a:solidFill>
                  <a:srgbClr val="0A1F44"/>
                </a:solidFill>
              </a:rPr>
              <a:t>(Marketplace) and managing their movement (Delivery).</a:t>
            </a:r>
            <a:endParaRPr lang="en-US" sz="985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17434"/>
            <a:ext cx="171450" cy="18573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85825" y="2417434"/>
            <a:ext cx="4464146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5" b="1" dirty="0">
                <a:solidFill>
                  <a:srgbClr val="0A1F44"/>
                </a:solidFill>
              </a:rPr>
              <a:t>Marketplace Product:</a:t>
            </a:r>
            <a:r>
              <a:rPr lang="en-US" sz="1050" dirty="0">
                <a:solidFill>
                  <a:srgbClr val="0A1F44"/>
                </a:solidFill>
              </a:rPr>
              <a:t> Facilitates seamless procurement through </a:t>
            </a:r>
            <a:r>
              <a:rPr lang="en-US" sz="1050" dirty="0">
                <a:solidFill>
                  <a:srgbClr val="0A1F44"/>
                </a:solidFill>
              </a:rPr>
              <a:t>structured RFQs and flexible direct orders.</a:t>
            </a:r>
            <a:endParaRPr lang="en-US" sz="985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988934"/>
            <a:ext cx="171450" cy="185738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885825" y="2988934"/>
            <a:ext cx="4464146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5" b="1" dirty="0">
                <a:solidFill>
                  <a:srgbClr val="0A1F44"/>
                </a:solidFill>
              </a:rPr>
              <a:t>Delivery Product:</a:t>
            </a:r>
            <a:r>
              <a:rPr lang="en-US" sz="1050" dirty="0">
                <a:solidFill>
                  <a:srgbClr val="0A1F44"/>
                </a:solidFill>
              </a:rPr>
              <a:t> Provides end-to-end delivery management for </a:t>
            </a:r>
            <a:r>
              <a:rPr lang="en-US" sz="1050" dirty="0">
                <a:solidFill>
                  <a:srgbClr val="0A1F44"/>
                </a:solidFill>
              </a:rPr>
              <a:t>efficient, tracked logistics.</a:t>
            </a:r>
            <a:endParaRPr lang="en-US" sz="985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560434"/>
            <a:ext cx="171450" cy="185738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885825" y="3560434"/>
            <a:ext cx="4464146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5" b="1" dirty="0">
                <a:solidFill>
                  <a:srgbClr val="0A1F44"/>
                </a:solidFill>
              </a:rPr>
              <a:t>Premium Experience:</a:t>
            </a:r>
            <a:r>
              <a:rPr lang="en-US" sz="1050" dirty="0">
                <a:solidFill>
                  <a:srgbClr val="0A1F44"/>
                </a:solidFill>
              </a:rPr>
              <a:t> Designed with a high-contrast palette for </a:t>
            </a:r>
            <a:r>
              <a:rPr lang="en-US" sz="1050" dirty="0">
                <a:solidFill>
                  <a:srgbClr val="0A1F44"/>
                </a:solidFill>
              </a:rPr>
              <a:t>trust, clarity, and ease of use.</a:t>
            </a:r>
            <a:endParaRPr lang="en-US" sz="985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1471" y="1143000"/>
            <a:ext cx="2936779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44254" y="1426992"/>
            <a:ext cx="4655465" cy="2743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800000"/>
                </a:solidFill>
              </a:rPr>
              <a:t>Structured Sourcing: From RFQ to Order</a:t>
            </a:r>
            <a:endParaRPr lang="en-US" sz="16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919" y="2129926"/>
            <a:ext cx="257175" cy="3429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00125" y="2615701"/>
            <a:ext cx="1528763" cy="38933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0A1F44"/>
                </a:solidFill>
              </a:rPr>
              <a:t>RFQ-Based Procurement</a:t>
            </a:r>
            <a:endParaRPr lang="en-US" sz="985" dirty="0"/>
          </a:p>
        </p:txBody>
      </p:sp>
      <p:sp>
        <p:nvSpPr>
          <p:cNvPr id="6" name="Text 2"/>
          <p:cNvSpPr/>
          <p:nvPr/>
        </p:nvSpPr>
        <p:spPr>
          <a:xfrm>
            <a:off x="1000125" y="3076473"/>
            <a:ext cx="1528763" cy="6400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835" dirty="0">
                <a:solidFill>
                  <a:srgbClr val="1A1A1A"/>
                </a:solidFill>
              </a:rPr>
              <a:t>Buyers create detailed **Request for Quotations (RFQs)** for multiple items and quantities.</a:t>
            </a:r>
            <a:endParaRPr lang="en-US" sz="835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0325" y="2808917"/>
            <a:ext cx="200025" cy="228600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4719" y="2129926"/>
            <a:ext cx="342900" cy="3429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2920984" y="2615701"/>
            <a:ext cx="1430341" cy="19466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0A1F44"/>
                </a:solidFill>
              </a:rPr>
              <a:t>Supplier Quotations</a:t>
            </a:r>
            <a:endParaRPr lang="en-US" sz="985" dirty="0"/>
          </a:p>
        </p:txBody>
      </p:sp>
      <p:sp>
        <p:nvSpPr>
          <p:cNvPr id="10" name="Text 4"/>
          <p:cNvSpPr/>
          <p:nvPr/>
        </p:nvSpPr>
        <p:spPr>
          <a:xfrm>
            <a:off x="2871788" y="2881805"/>
            <a:ext cx="1528763" cy="6400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835" dirty="0">
                <a:solidFill>
                  <a:srgbClr val="1A1A1A"/>
                </a:solidFill>
              </a:rPr>
              <a:t>Suppliers respond with detailed quotes, including pricing and guaranteed delivery dates.</a:t>
            </a:r>
            <a:endParaRPr lang="en-US" sz="835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988" y="2808917"/>
            <a:ext cx="200025" cy="228600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3519" y="2129926"/>
            <a:ext cx="428625" cy="34290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4743450" y="2615701"/>
            <a:ext cx="1528763" cy="38933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0A1F44"/>
                </a:solidFill>
              </a:rPr>
              <a:t>Streamlined Negotiation</a:t>
            </a:r>
            <a:endParaRPr lang="en-US" sz="985" dirty="0"/>
          </a:p>
        </p:txBody>
      </p:sp>
      <p:sp>
        <p:nvSpPr>
          <p:cNvPr id="14" name="Text 6"/>
          <p:cNvSpPr/>
          <p:nvPr/>
        </p:nvSpPr>
        <p:spPr>
          <a:xfrm>
            <a:off x="4743450" y="3076473"/>
            <a:ext cx="1528763" cy="6400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835" dirty="0">
                <a:solidFill>
                  <a:srgbClr val="1A1A1A"/>
                </a:solidFill>
              </a:rPr>
              <a:t>Buyers can easily accept or reject quotations, accelerating the selection process.</a:t>
            </a:r>
            <a:endParaRPr lang="en-US" sz="835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650" y="2808917"/>
            <a:ext cx="200025" cy="228600"/>
          </a:xfrm>
          <a:prstGeom prst="rect">
            <a:avLst/>
          </a:prstGeom>
        </p:spPr>
      </p:pic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6613" y="2129926"/>
            <a:ext cx="385763" cy="342900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6765131" y="2615701"/>
            <a:ext cx="1228725" cy="19466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0A1F44"/>
                </a:solidFill>
              </a:rPr>
              <a:t>Flexible Ordering</a:t>
            </a:r>
            <a:endParaRPr lang="en-US" sz="985" dirty="0"/>
          </a:p>
        </p:txBody>
      </p:sp>
      <p:sp>
        <p:nvSpPr>
          <p:cNvPr id="18" name="Text 8"/>
          <p:cNvSpPr/>
          <p:nvPr/>
        </p:nvSpPr>
        <p:spPr>
          <a:xfrm>
            <a:off x="6615113" y="2881805"/>
            <a:ext cx="1528763" cy="6400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835" dirty="0">
                <a:solidFill>
                  <a:srgbClr val="1A1A1A"/>
                </a:solidFill>
              </a:rPr>
              <a:t>Orders can be created directly from accepted quotes or via direct listing purchases.</a:t>
            </a:r>
            <a:endParaRPr lang="en-US" sz="83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001000" cy="2743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800000"/>
                </a:solidFill>
              </a:rPr>
              <a:t>Comprehensive Order Management and Fulfillment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571500" y="1202996"/>
            <a:ext cx="8001000" cy="291108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5" name="Shape 2"/>
          <p:cNvSpPr/>
          <p:nvPr/>
        </p:nvSpPr>
        <p:spPr>
          <a:xfrm>
            <a:off x="571500" y="1472673"/>
            <a:ext cx="8001000" cy="21431"/>
          </a:xfrm>
          <a:prstGeom prst="rect">
            <a:avLst/>
          </a:prstGeom>
          <a:solidFill>
            <a:srgbClr val="B22222"/>
          </a:solidFill>
        </p:spPr>
      </p:sp>
      <p:sp>
        <p:nvSpPr>
          <p:cNvPr id="6" name="Text 3"/>
          <p:cNvSpPr/>
          <p:nvPr/>
        </p:nvSpPr>
        <p:spPr>
          <a:xfrm>
            <a:off x="571500" y="1202996"/>
            <a:ext cx="8001000" cy="291108"/>
          </a:xfrm>
          <a:prstGeom prst="rect">
            <a:avLst/>
          </a:prstGeom>
          <a:noFill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0A1F44"/>
                </a:solidFill>
              </a:rPr>
              <a:t>Full Lifecycle Tracking</a:t>
            </a:r>
            <a:endParaRPr lang="en-US" sz="1195" dirty="0"/>
          </a:p>
        </p:txBody>
      </p:sp>
      <p:sp>
        <p:nvSpPr>
          <p:cNvPr id="7" name="Shape 4"/>
          <p:cNvSpPr/>
          <p:nvPr/>
        </p:nvSpPr>
        <p:spPr>
          <a:xfrm>
            <a:off x="642938" y="1615548"/>
            <a:ext cx="1667535" cy="437555"/>
          </a:xfrm>
          <a:prstGeom prst="rect">
            <a:avLst/>
          </a:prstGeom>
          <a:solidFill>
            <a:srgbClr val="FFFFFF"/>
          </a:solidFill>
          <a:ln w="18288">
            <a:solidFill>
              <a:srgbClr val="0A1F4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2938" y="1615548"/>
            <a:ext cx="1667535" cy="437555"/>
          </a:xfrm>
          <a:prstGeom prst="rect">
            <a:avLst/>
          </a:prstGeom>
          <a:noFill/>
        </p:spPr>
        <p:txBody>
          <a:bodyPr wrap="square" lIns="212598" tIns="127508" rIns="212598" bIns="127508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0A1F44"/>
                </a:solidFill>
              </a:rPr>
              <a:t>Pending</a:t>
            </a:r>
            <a:endParaRPr lang="en-US" sz="985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0479" y="1748600"/>
            <a:ext cx="150019" cy="17145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581935" y="1615548"/>
            <a:ext cx="1840548" cy="437555"/>
          </a:xfrm>
          <a:prstGeom prst="rect">
            <a:avLst/>
          </a:prstGeom>
          <a:solidFill>
            <a:srgbClr val="FFFFFF"/>
          </a:solidFill>
          <a:ln w="18288">
            <a:solidFill>
              <a:srgbClr val="0A1F4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581935" y="1615548"/>
            <a:ext cx="1840548" cy="437555"/>
          </a:xfrm>
          <a:prstGeom prst="rect">
            <a:avLst/>
          </a:prstGeom>
          <a:noFill/>
        </p:spPr>
        <p:txBody>
          <a:bodyPr wrap="square" lIns="212598" tIns="127508" rIns="212598" bIns="127508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0A1F44"/>
                </a:solidFill>
              </a:rPr>
              <a:t>Confirmed</a:t>
            </a:r>
            <a:endParaRPr lang="en-US" sz="985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9634" y="1748600"/>
            <a:ext cx="150019" cy="17145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701090" y="1615548"/>
            <a:ext cx="1870546" cy="437555"/>
          </a:xfrm>
          <a:prstGeom prst="rect">
            <a:avLst/>
          </a:prstGeom>
          <a:solidFill>
            <a:srgbClr val="2F855A"/>
          </a:solidFill>
          <a:ln w="18288">
            <a:solidFill>
              <a:srgbClr val="0A1F44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4701090" y="1615548"/>
            <a:ext cx="1870546" cy="437555"/>
          </a:xfrm>
          <a:prstGeom prst="rect">
            <a:avLst/>
          </a:prstGeom>
          <a:noFill/>
        </p:spPr>
        <p:txBody>
          <a:bodyPr wrap="square" lIns="212598" tIns="127508" rIns="212598" bIns="127508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FFFFFF"/>
                </a:solidFill>
              </a:rPr>
              <a:t>Completed</a:t>
            </a:r>
            <a:endParaRPr lang="en-US" sz="985" dirty="0"/>
          </a:p>
        </p:txBody>
      </p:sp>
      <p:sp>
        <p:nvSpPr>
          <p:cNvPr id="15" name="Shape 10"/>
          <p:cNvSpPr/>
          <p:nvPr/>
        </p:nvSpPr>
        <p:spPr>
          <a:xfrm>
            <a:off x="6707367" y="1615548"/>
            <a:ext cx="1793695" cy="437555"/>
          </a:xfrm>
          <a:prstGeom prst="rect">
            <a:avLst/>
          </a:prstGeom>
          <a:solidFill>
            <a:srgbClr val="C53030"/>
          </a:solidFill>
          <a:ln w="18288">
            <a:solidFill>
              <a:srgbClr val="0A1F44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707367" y="1615548"/>
            <a:ext cx="1793695" cy="437555"/>
          </a:xfrm>
          <a:prstGeom prst="rect">
            <a:avLst/>
          </a:prstGeom>
          <a:noFill/>
        </p:spPr>
        <p:txBody>
          <a:bodyPr wrap="square" lIns="212598" tIns="127508" rIns="212598" bIns="127508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FFFFFF"/>
                </a:solidFill>
              </a:rPr>
              <a:t>Cancelled</a:t>
            </a:r>
            <a:endParaRPr lang="en-US" sz="985" dirty="0"/>
          </a:p>
        </p:txBody>
      </p:sp>
      <p:sp>
        <p:nvSpPr>
          <p:cNvPr id="17" name="Shape 12"/>
          <p:cNvSpPr/>
          <p:nvPr/>
        </p:nvSpPr>
        <p:spPr>
          <a:xfrm>
            <a:off x="571500" y="2381715"/>
            <a:ext cx="8001000" cy="291108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8" name="Shape 13"/>
          <p:cNvSpPr/>
          <p:nvPr/>
        </p:nvSpPr>
        <p:spPr>
          <a:xfrm>
            <a:off x="571500" y="2651392"/>
            <a:ext cx="8001000" cy="21431"/>
          </a:xfrm>
          <a:prstGeom prst="rect">
            <a:avLst/>
          </a:prstGeom>
          <a:solidFill>
            <a:srgbClr val="B22222"/>
          </a:solidFill>
        </p:spPr>
      </p:sp>
      <p:sp>
        <p:nvSpPr>
          <p:cNvPr id="19" name="Text 14"/>
          <p:cNvSpPr/>
          <p:nvPr/>
        </p:nvSpPr>
        <p:spPr>
          <a:xfrm>
            <a:off x="571500" y="2381715"/>
            <a:ext cx="8001000" cy="291108"/>
          </a:xfrm>
          <a:prstGeom prst="rect">
            <a:avLst/>
          </a:prstGeom>
          <a:noFill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0A1F44"/>
                </a:solidFill>
              </a:rPr>
              <a:t>Flexible Fulfillment Options</a:t>
            </a:r>
            <a:endParaRPr lang="en-US" sz="1195" dirty="0"/>
          </a:p>
        </p:txBody>
      </p:sp>
      <p:sp>
        <p:nvSpPr>
          <p:cNvPr id="20" name="Shape 15"/>
          <p:cNvSpPr/>
          <p:nvPr/>
        </p:nvSpPr>
        <p:spPr>
          <a:xfrm>
            <a:off x="571500" y="2794267"/>
            <a:ext cx="4000500" cy="1479091"/>
          </a:xfrm>
          <a:prstGeom prst="rect">
            <a:avLst/>
          </a:prstGeom>
          <a:solidFill>
            <a:srgbClr val="FFFFFF"/>
          </a:solidFill>
          <a:ln w="9144">
            <a:solidFill>
              <a:srgbClr val="7A7A7A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6728" y="3008579"/>
            <a:ext cx="342900" cy="3429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178760" y="3458635"/>
            <a:ext cx="778836" cy="19466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0A1F44"/>
                </a:solidFill>
              </a:rPr>
              <a:t>Self Pickup</a:t>
            </a:r>
            <a:endParaRPr lang="en-US" sz="985" dirty="0"/>
          </a:p>
        </p:txBody>
      </p:sp>
      <p:sp>
        <p:nvSpPr>
          <p:cNvPr id="23" name="Text 17"/>
          <p:cNvSpPr/>
          <p:nvPr/>
        </p:nvSpPr>
        <p:spPr>
          <a:xfrm>
            <a:off x="886411" y="3724740"/>
            <a:ext cx="3363506" cy="1600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835" dirty="0">
                <a:solidFill>
                  <a:srgbClr val="1A1A1A"/>
                </a:solidFill>
              </a:rPr>
              <a:t>Buyer-managed logistics for direct collection from the supplier.</a:t>
            </a:r>
            <a:endParaRPr lang="en-US" sz="835" dirty="0"/>
          </a:p>
        </p:txBody>
      </p:sp>
      <p:sp>
        <p:nvSpPr>
          <p:cNvPr id="24" name="Shape 18"/>
          <p:cNvSpPr/>
          <p:nvPr/>
        </p:nvSpPr>
        <p:spPr>
          <a:xfrm>
            <a:off x="4564856" y="2794267"/>
            <a:ext cx="4007644" cy="1479091"/>
          </a:xfrm>
          <a:prstGeom prst="rect">
            <a:avLst/>
          </a:prstGeom>
          <a:solidFill>
            <a:srgbClr val="FFFFFF"/>
          </a:solidFill>
          <a:ln w="9144">
            <a:solidFill>
              <a:srgbClr val="7A7A7A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7938" y="3008579"/>
            <a:ext cx="428625" cy="3429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277626" y="3458635"/>
            <a:ext cx="589220" cy="19466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0A1F44"/>
                </a:solidFill>
              </a:rPr>
              <a:t>Delivery</a:t>
            </a:r>
            <a:endParaRPr lang="en-US" sz="985" dirty="0"/>
          </a:p>
        </p:txBody>
      </p:sp>
      <p:sp>
        <p:nvSpPr>
          <p:cNvPr id="27" name="Text 20"/>
          <p:cNvSpPr/>
          <p:nvPr/>
        </p:nvSpPr>
        <p:spPr>
          <a:xfrm>
            <a:off x="4786313" y="3724740"/>
            <a:ext cx="3571875" cy="32001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835" dirty="0">
                <a:solidFill>
                  <a:srgbClr val="1A1A1A"/>
                </a:solidFill>
              </a:rPr>
              <a:t>Platform-managed logistics utilizing the integrated Delivery Product.</a:t>
            </a:r>
            <a:endParaRPr lang="en-US" sz="83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285750"/>
            <a:ext cx="2674609" cy="4572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817609" y="894615"/>
            <a:ext cx="4754891" cy="54861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800000"/>
                </a:solidFill>
              </a:rPr>
              <a:t>Efficient Logistics: Real-Time Delivery Management</a:t>
            </a:r>
            <a:endParaRPr lang="en-US" sz="160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7609" y="1740591"/>
            <a:ext cx="171450" cy="17145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4096215" y="1728983"/>
            <a:ext cx="1337611" cy="19466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0A1F44"/>
                </a:solidFill>
              </a:rPr>
              <a:t>End-to-End Control</a:t>
            </a:r>
            <a:endParaRPr lang="en-US" sz="985" dirty="0"/>
          </a:p>
        </p:txBody>
      </p:sp>
      <p:sp>
        <p:nvSpPr>
          <p:cNvPr id="7" name="Text 2"/>
          <p:cNvSpPr/>
          <p:nvPr/>
        </p:nvSpPr>
        <p:spPr>
          <a:xfrm>
            <a:off x="3817609" y="1995088"/>
            <a:ext cx="4754891" cy="320018"/>
          </a:xfrm>
          <a:prstGeom prst="rect">
            <a:avLst/>
          </a:prstGeom>
          <a:noFill/>
        </p:spPr>
        <p:txBody>
          <a:bodyPr wrap="square" lIns="340233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dirty="0">
                <a:solidFill>
                  <a:srgbClr val="0A1F44"/>
                </a:solidFill>
              </a:rPr>
              <a:t>Manages the entire delivery process from creation to final handover, ensuring full oversight.</a:t>
            </a:r>
            <a:endParaRPr lang="en-US" sz="835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7609" y="2541026"/>
            <a:ext cx="128588" cy="17145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4053353" y="2529418"/>
            <a:ext cx="1841943" cy="19466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0A1F44"/>
                </a:solidFill>
              </a:rPr>
              <a:t>Real-Time Status Tracking</a:t>
            </a:r>
            <a:endParaRPr lang="en-US" sz="985" dirty="0"/>
          </a:p>
        </p:txBody>
      </p:sp>
      <p:sp>
        <p:nvSpPr>
          <p:cNvPr id="10" name="Text 4"/>
          <p:cNvSpPr/>
          <p:nvPr/>
        </p:nvSpPr>
        <p:spPr>
          <a:xfrm>
            <a:off x="3817609" y="2795522"/>
            <a:ext cx="4754891" cy="160009"/>
          </a:xfrm>
          <a:prstGeom prst="rect">
            <a:avLst/>
          </a:prstGeom>
          <a:noFill/>
        </p:spPr>
        <p:txBody>
          <a:bodyPr wrap="none" lIns="340233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dirty="0">
                <a:solidFill>
                  <a:srgbClr val="0A1F44"/>
                </a:solidFill>
              </a:rPr>
              <a:t>Clear, sequential tracking of delivery orders through a managed lifecycle:</a:t>
            </a:r>
            <a:endParaRPr lang="en-US" sz="835" dirty="0"/>
          </a:p>
        </p:txBody>
      </p:sp>
      <p:sp>
        <p:nvSpPr>
          <p:cNvPr id="11" name="Text 5"/>
          <p:cNvSpPr/>
          <p:nvPr/>
        </p:nvSpPr>
        <p:spPr>
          <a:xfrm>
            <a:off x="3817609" y="3098406"/>
            <a:ext cx="779506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5" b="1" dirty="0">
                <a:solidFill>
                  <a:srgbClr val="7A7A7A"/>
                </a:solidFill>
              </a:rPr>
              <a:t>Draft</a:t>
            </a:r>
            <a:endParaRPr lang="en-US" sz="685" dirty="0"/>
          </a:p>
        </p:txBody>
      </p:sp>
      <p:sp>
        <p:nvSpPr>
          <p:cNvPr id="12" name="Text 6"/>
          <p:cNvSpPr/>
          <p:nvPr/>
        </p:nvSpPr>
        <p:spPr>
          <a:xfrm>
            <a:off x="4597115" y="3098406"/>
            <a:ext cx="969931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5" b="1" dirty="0">
                <a:solidFill>
                  <a:srgbClr val="7A7A7A"/>
                </a:solidFill>
              </a:rPr>
              <a:t>Assigned</a:t>
            </a:r>
            <a:endParaRPr lang="en-US" sz="685" dirty="0"/>
          </a:p>
        </p:txBody>
      </p:sp>
      <p:sp>
        <p:nvSpPr>
          <p:cNvPr id="13" name="Text 7"/>
          <p:cNvSpPr/>
          <p:nvPr/>
        </p:nvSpPr>
        <p:spPr>
          <a:xfrm>
            <a:off x="5567046" y="3098406"/>
            <a:ext cx="1013631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5" b="1" dirty="0">
                <a:solidFill>
                  <a:srgbClr val="7A7A7A"/>
                </a:solidFill>
              </a:rPr>
              <a:t>Picked Up</a:t>
            </a:r>
            <a:endParaRPr lang="en-US" sz="685" dirty="0"/>
          </a:p>
        </p:txBody>
      </p:sp>
      <p:sp>
        <p:nvSpPr>
          <p:cNvPr id="14" name="Text 8"/>
          <p:cNvSpPr/>
          <p:nvPr/>
        </p:nvSpPr>
        <p:spPr>
          <a:xfrm>
            <a:off x="6580677" y="3098406"/>
            <a:ext cx="996246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5" b="1" dirty="0">
                <a:solidFill>
                  <a:srgbClr val="7A7A7A"/>
                </a:solidFill>
              </a:rPr>
              <a:t>In Transit</a:t>
            </a:r>
            <a:endParaRPr lang="en-US" sz="685" dirty="0"/>
          </a:p>
        </p:txBody>
      </p:sp>
      <p:sp>
        <p:nvSpPr>
          <p:cNvPr id="15" name="Text 9"/>
          <p:cNvSpPr/>
          <p:nvPr/>
        </p:nvSpPr>
        <p:spPr>
          <a:xfrm>
            <a:off x="7576924" y="3098406"/>
            <a:ext cx="995549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5" b="1" dirty="0">
                <a:solidFill>
                  <a:srgbClr val="2F855A"/>
                </a:solidFill>
              </a:rPr>
              <a:t>Delivered</a:t>
            </a:r>
            <a:endParaRPr lang="en-US" sz="685" dirty="0"/>
          </a:p>
        </p:txBody>
      </p:sp>
      <p:sp>
        <p:nvSpPr>
          <p:cNvPr id="16" name="Text 10"/>
          <p:cNvSpPr/>
          <p:nvPr/>
        </p:nvSpPr>
        <p:spPr>
          <a:xfrm>
            <a:off x="4539909" y="3098406"/>
            <a:ext cx="128588" cy="1893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800000"/>
                </a:solidFill>
              </a:rPr>
              <a:t>→</a:t>
            </a:r>
            <a:endParaRPr lang="en-US" sz="885" dirty="0"/>
          </a:p>
        </p:txBody>
      </p:sp>
      <p:sp>
        <p:nvSpPr>
          <p:cNvPr id="17" name="Text 11"/>
          <p:cNvSpPr/>
          <p:nvPr/>
        </p:nvSpPr>
        <p:spPr>
          <a:xfrm>
            <a:off x="5509868" y="3098406"/>
            <a:ext cx="128588" cy="1893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800000"/>
                </a:solidFill>
              </a:rPr>
              <a:t>→</a:t>
            </a:r>
            <a:endParaRPr lang="en-US" sz="885" dirty="0"/>
          </a:p>
        </p:txBody>
      </p:sp>
      <p:sp>
        <p:nvSpPr>
          <p:cNvPr id="18" name="Text 12"/>
          <p:cNvSpPr/>
          <p:nvPr/>
        </p:nvSpPr>
        <p:spPr>
          <a:xfrm>
            <a:off x="6523499" y="3098406"/>
            <a:ext cx="128588" cy="1893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800000"/>
                </a:solidFill>
              </a:rPr>
              <a:t>→</a:t>
            </a:r>
            <a:endParaRPr lang="en-US" sz="885" dirty="0"/>
          </a:p>
        </p:txBody>
      </p:sp>
      <p:sp>
        <p:nvSpPr>
          <p:cNvPr id="19" name="Text 13"/>
          <p:cNvSpPr/>
          <p:nvPr/>
        </p:nvSpPr>
        <p:spPr>
          <a:xfrm>
            <a:off x="7519718" y="3098406"/>
            <a:ext cx="128588" cy="1893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800000"/>
                </a:solidFill>
              </a:rPr>
              <a:t>→</a:t>
            </a:r>
            <a:endParaRPr lang="en-US" sz="885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7609" y="3460059"/>
            <a:ext cx="214313" cy="17145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139078" y="3448450"/>
            <a:ext cx="1624505" cy="19466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0A1F44"/>
                </a:solidFill>
              </a:rPr>
              <a:t>Optimized Assignment</a:t>
            </a:r>
            <a:endParaRPr lang="en-US" sz="985" dirty="0"/>
          </a:p>
        </p:txBody>
      </p:sp>
      <p:sp>
        <p:nvSpPr>
          <p:cNvPr id="22" name="Text 15"/>
          <p:cNvSpPr/>
          <p:nvPr/>
        </p:nvSpPr>
        <p:spPr>
          <a:xfrm>
            <a:off x="3817609" y="3714555"/>
            <a:ext cx="4754891" cy="320018"/>
          </a:xfrm>
          <a:prstGeom prst="rect">
            <a:avLst/>
          </a:prstGeom>
          <a:noFill/>
        </p:spPr>
        <p:txBody>
          <a:bodyPr wrap="square" lIns="340233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dirty="0">
                <a:solidFill>
                  <a:srgbClr val="0A1F44"/>
                </a:solidFill>
              </a:rPr>
              <a:t>Efficiently assigns drivers based on delivery order requirements, vehicle type, and driver availability.</a:t>
            </a:r>
            <a:endParaRPr lang="en-US" sz="83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001000" cy="2743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800000"/>
                </a:solidFill>
              </a:rPr>
              <a:t>Optimized Fleet and Driver Assignment</a:t>
            </a:r>
            <a:endParaRPr lang="en-US" sz="16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808792"/>
            <a:ext cx="200025" cy="21431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4400" y="1808792"/>
            <a:ext cx="4457700" cy="6000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5" b="1" dirty="0">
                <a:solidFill>
                  <a:srgbClr val="0A1F44"/>
                </a:solidFill>
              </a:rPr>
              <a:t>Flexible Driver Assignment:</a:t>
            </a:r>
            <a:r>
              <a:rPr lang="en-US" sz="1050" dirty="0">
                <a:solidFill>
                  <a:srgbClr val="0A1F44"/>
                </a:solidFill>
              </a:rPr>
              <a:t> System posts delivery orders to the </a:t>
            </a:r>
            <a:r>
              <a:rPr lang="en-US" sz="1050" dirty="0">
                <a:solidFill>
                  <a:srgbClr val="0A1F44"/>
                </a:solidFill>
              </a:rPr>
              <a:t>platform which are picked up by the most suitable driver and </a:t>
            </a:r>
            <a:r>
              <a:rPr lang="en-US" sz="1050" dirty="0">
                <a:solidFill>
                  <a:srgbClr val="0A1F44"/>
                </a:solidFill>
              </a:rPr>
              <a:t>vehicle.</a:t>
            </a:r>
            <a:endParaRPr lang="en-US" sz="985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37467"/>
            <a:ext cx="200025" cy="214313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914400" y="2637467"/>
            <a:ext cx="44577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5" b="1" dirty="0">
                <a:solidFill>
                  <a:srgbClr val="0A1F44"/>
                </a:solidFill>
              </a:rPr>
              <a:t>Diverse Vehicle Support:</a:t>
            </a:r>
            <a:r>
              <a:rPr lang="en-US" sz="1050" dirty="0">
                <a:solidFill>
                  <a:srgbClr val="0A1F44"/>
                </a:solidFill>
              </a:rPr>
              <a:t> Supports a full range of logistics needs, </a:t>
            </a:r>
            <a:r>
              <a:rPr lang="en-US" sz="1050" dirty="0">
                <a:solidFill>
                  <a:srgbClr val="0A1F44"/>
                </a:solidFill>
              </a:rPr>
              <a:t>including **Motorcycles, Cars, Vans, and Trucks**.</a:t>
            </a:r>
            <a:endParaRPr lang="en-US" sz="985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266117"/>
            <a:ext cx="200025" cy="214313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914400" y="3266117"/>
            <a:ext cx="44577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5" b="1" dirty="0">
                <a:solidFill>
                  <a:srgbClr val="0A1F44"/>
                </a:solidFill>
              </a:rPr>
              <a:t>Detailed Profiles:</a:t>
            </a:r>
            <a:r>
              <a:rPr lang="en-US" sz="1050" dirty="0">
                <a:solidFill>
                  <a:srgbClr val="0A1F44"/>
                </a:solidFill>
              </a:rPr>
              <a:t> Maintains detailed profiles for both drivers and </a:t>
            </a:r>
            <a:r>
              <a:rPr lang="en-US" sz="1050" dirty="0">
                <a:solidFill>
                  <a:srgbClr val="0A1F44"/>
                </a:solidFill>
              </a:rPr>
              <a:t>vehicles for compliance and performance tracking.</a:t>
            </a:r>
            <a:endParaRPr lang="en-US" sz="985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2100" y="1423029"/>
            <a:ext cx="3200400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785813"/>
            <a:ext cx="2936779" cy="357187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794029" y="1233022"/>
            <a:ext cx="4778471" cy="54861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800000"/>
                </a:solidFill>
              </a:rPr>
              <a:t>Secure Handover and Dispute Resolution</a:t>
            </a:r>
            <a:endParaRPr lang="en-US" sz="160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029" y="2067390"/>
            <a:ext cx="200025" cy="214313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4136929" y="2067390"/>
            <a:ext cx="4435571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5" b="1" dirty="0">
                <a:solidFill>
                  <a:srgbClr val="0A1F44"/>
                </a:solidFill>
              </a:rPr>
              <a:t>Secure Receiver Confirmation:</a:t>
            </a:r>
            <a:r>
              <a:rPr lang="en-US" sz="1050" dirty="0">
                <a:solidFill>
                  <a:srgbClr val="0A1F44"/>
                </a:solidFill>
              </a:rPr>
              <a:t> Requires a secure confirmation </a:t>
            </a:r>
            <a:r>
              <a:rPr lang="en-US" sz="1050" dirty="0">
                <a:solidFill>
                  <a:srgbClr val="0A1F44"/>
                </a:solidFill>
              </a:rPr>
              <a:t>from the receiver upon successful delivery (Proof of Delivery).</a:t>
            </a:r>
            <a:endParaRPr lang="en-US" sz="985" dirty="0"/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029" y="2681753"/>
            <a:ext cx="200025" cy="214313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4136929" y="2681753"/>
            <a:ext cx="4435571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5" b="1" dirty="0">
                <a:solidFill>
                  <a:srgbClr val="0A1F44"/>
                </a:solidFill>
              </a:rPr>
              <a:t>Immediate Issue Reporting:</a:t>
            </a:r>
            <a:r>
              <a:rPr lang="en-US" sz="1050" dirty="0">
                <a:solidFill>
                  <a:srgbClr val="0A1F44"/>
                </a:solidFill>
              </a:rPr>
              <a:t> Built-in workflows allow receivers to </a:t>
            </a:r>
            <a:r>
              <a:rPr lang="en-US" sz="1050" dirty="0">
                <a:solidFill>
                  <a:srgbClr val="0A1F44"/>
                </a:solidFill>
              </a:rPr>
              <a:t>report issues like (damaged, missing, or wrong items) instantly.</a:t>
            </a:r>
            <a:endParaRPr lang="en-US" sz="985" dirty="0"/>
          </a:p>
        </p:txBody>
      </p:sp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4029" y="3296115"/>
            <a:ext cx="200025" cy="214313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4136929" y="3296115"/>
            <a:ext cx="4435571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5" b="1" dirty="0">
                <a:solidFill>
                  <a:srgbClr val="0A1F44"/>
                </a:solidFill>
              </a:rPr>
              <a:t>Dispute Mechanism:</a:t>
            </a:r>
            <a:r>
              <a:rPr lang="en-US" sz="1050" dirty="0">
                <a:solidFill>
                  <a:srgbClr val="0A1F44"/>
                </a:solidFill>
              </a:rPr>
              <a:t> A clear process for receivers to dispute </a:t>
            </a:r>
            <a:r>
              <a:rPr lang="en-US" sz="1050" dirty="0">
                <a:solidFill>
                  <a:srgbClr val="0A1F44"/>
                </a:solidFill>
              </a:rPr>
              <a:t>deliveries if specifications are not met, ensuring accountability.</a:t>
            </a:r>
            <a:endParaRPr lang="en-US" sz="98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571500"/>
            <a:ext cx="8001000" cy="2743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800000"/>
                </a:solidFill>
              </a:rPr>
              <a:t>Kegebeya: Driving Efficiency in B2B Commerce</a:t>
            </a:r>
            <a:endParaRPr lang="en-US" sz="16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131559"/>
            <a:ext cx="200025" cy="21431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4400" y="1131559"/>
            <a:ext cx="3497563" cy="6000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5" b="1" dirty="0">
                <a:solidFill>
                  <a:srgbClr val="0A1F44"/>
                </a:solidFill>
              </a:rPr>
              <a:t>End-to-End Control:</a:t>
            </a:r>
            <a:r>
              <a:rPr lang="en-US" sz="1050" dirty="0">
                <a:solidFill>
                  <a:srgbClr val="0A1F44"/>
                </a:solidFill>
              </a:rPr>
              <a:t> Complete management of </a:t>
            </a:r>
            <a:r>
              <a:rPr lang="en-US" sz="1050" dirty="0">
                <a:solidFill>
                  <a:srgbClr val="0A1F44"/>
                </a:solidFill>
              </a:rPr>
              <a:t>both procurement and logistics from a single </a:t>
            </a:r>
            <a:r>
              <a:rPr lang="en-US" sz="1050" dirty="0">
                <a:solidFill>
                  <a:srgbClr val="0A1F44"/>
                </a:solidFill>
              </a:rPr>
              <a:t>platform.</a:t>
            </a:r>
            <a:endParaRPr lang="en-US" sz="985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37" y="1131559"/>
            <a:ext cx="200025" cy="214313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074937" y="1131559"/>
            <a:ext cx="3497563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5" b="1" dirty="0">
                <a:solidFill>
                  <a:srgbClr val="0A1F44"/>
                </a:solidFill>
              </a:rPr>
              <a:t>Trust and Transparency:</a:t>
            </a:r>
            <a:r>
              <a:rPr lang="en-US" sz="1050" dirty="0">
                <a:solidFill>
                  <a:srgbClr val="0A1F44"/>
                </a:solidFill>
              </a:rPr>
              <a:t> Clear tracking, secure </a:t>
            </a:r>
            <a:r>
              <a:rPr lang="en-US" sz="1050" dirty="0">
                <a:solidFill>
                  <a:srgbClr val="0A1F44"/>
                </a:solidFill>
              </a:rPr>
              <a:t>confirmation, and robust dispute resolution.</a:t>
            </a:r>
            <a:endParaRPr lang="en-US" sz="985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74509"/>
            <a:ext cx="200025" cy="214313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914400" y="1874509"/>
            <a:ext cx="3497563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5" b="1" dirty="0">
                <a:solidFill>
                  <a:srgbClr val="0A1F44"/>
                </a:solidFill>
              </a:rPr>
              <a:t>Scalable Logistics:</a:t>
            </a:r>
            <a:r>
              <a:rPr lang="en-US" sz="1050" dirty="0">
                <a:solidFill>
                  <a:srgbClr val="0A1F44"/>
                </a:solidFill>
              </a:rPr>
              <a:t> Optimized fleet management to </a:t>
            </a:r>
            <a:r>
              <a:rPr lang="en-US" sz="1050" dirty="0">
                <a:solidFill>
                  <a:srgbClr val="0A1F44"/>
                </a:solidFill>
              </a:rPr>
              <a:t>support business growth and diverse needs.</a:t>
            </a:r>
            <a:endParaRPr lang="en-US" sz="985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2037" y="1874509"/>
            <a:ext cx="200025" cy="214313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5074937" y="1874509"/>
            <a:ext cx="3497563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5" b="1" dirty="0">
                <a:solidFill>
                  <a:srgbClr val="0A1F44"/>
                </a:solidFill>
              </a:rPr>
              <a:t>Investment Opportunity:</a:t>
            </a:r>
            <a:r>
              <a:rPr lang="en-US" sz="1050" dirty="0">
                <a:solidFill>
                  <a:srgbClr val="0A1F44"/>
                </a:solidFill>
              </a:rPr>
              <a:t> Redefining the B2B </a:t>
            </a:r>
            <a:r>
              <a:rPr lang="en-US" sz="1050" dirty="0">
                <a:solidFill>
                  <a:srgbClr val="0A1F44"/>
                </a:solidFill>
              </a:rPr>
              <a:t>marketplace and delivery landscape.</a:t>
            </a:r>
            <a:endParaRPr lang="en-US" sz="98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2951</Words>
  <Application>WPS Presentation</Application>
  <PresentationFormat>On-screen Show (16:9)</PresentationFormat>
  <Paragraphs>112</Paragraphs>
  <Slides>8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Arial</vt:lpstr>
      <vt:lpstr>SimSun</vt:lpstr>
      <vt:lpstr>Wingdings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yitba</cp:lastModifiedBy>
  <cp:revision>2</cp:revision>
  <dcterms:created xsi:type="dcterms:W3CDTF">2025-12-03T16:41:00Z</dcterms:created>
  <dcterms:modified xsi:type="dcterms:W3CDTF">2025-12-03T17:18:33Z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9166D6AD8B0047BEA3A8E388762F0EB8_12</vt:lpwstr>
  </property>
  <property fmtid="{D5CDD505-2E9C-101B-9397-08002B2CF9AE}" pid="3" name="KSOProductBuildVer">
    <vt:lpwstr>1033-12.2.0.23155</vt:lpwstr>
  </property>
</Properties>
</file>